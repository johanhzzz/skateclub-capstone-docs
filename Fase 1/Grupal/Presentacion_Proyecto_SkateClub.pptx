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5632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Somos GrindOps, el equipo de iteria SYSTEMS. Presentamos SkateClub, nuestra plataforma para la comunidad skater, ya en producción. Hoy exponemos la definición del proyecto para el Capstone.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conocimiento de la escena skater está fragmentado: spots que solo se conocen de boca en boca, comunidad dispersa en apps genéricas y sin nada que motive la participación. Ese es el vacío que atacamos.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SkateClub combina cuatro pilares: mapa colaborativo de spots, red social propia, gamificación y recompensas. La propuesta de valor es unir descubrimiento, comunidad y motivación en un solo producto para la cultura skate.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punto fuerte: SkateClub ya existe y está en producción, en web y tiendas, con interés real de la comunidad. Nuestro trabajo de Capstone es llevar ese producto a un estándar de ingeniería profesional.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producto cubre seis grandes módulos: autenticación y perfiles, spots y mapa, feed social, mensajería, gamificación y recompensas, más un asistente de IA. Es una aplicación completa, no un módulo aislado.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objetivo general es consolidar SkateClub con estándar de ingeniería. Los específicos van desde formalizar requisitos y arquitectura hasta el plan de pruebas y el plan de seguridad y auditoría.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MVP incluye los módulos centrales del producto y la capa de ingeniería. Dejamos fuera, como proyección, los pagos reales, la logística de premios y los contratos de patrocinio, para mantener el alcance abordable en el semestre.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stack es maduro y ya probado en producción: Flutter en el cliente, FastAPI en el backend, PostgreSQL con PostGIS, todo contenerizado con Docker sobre Supabase, Render y Vercel, más Gemini para el asistente y GitHub Actions para CI/CD.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Arquitectura: un cliente Flutter multiplataforma consume una API REST en FastAPI desplegada en Render, que se apoya en PostgreSQL/PostGIS y Storage de Supabase, más servicios externos. El backend es un monolito modular por dominios con tres capas: router, servicio y repositorio.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Trabajamos con Scrum y prácticas DevOps. Es pertinente porque el producto ya está en uso: los sprints nos permiten entregar y ajustar de forma incremental, con backlog en Jira, ceremonias por sprint y despliegue continuo.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semestre se organiza en las tres fases del Capstone con sus ponderaciones: Definición (20%), Desarrollo con avance (20%) y final (30%), y Presentación (30%). El desarrollo son cuatro sprints más una etapa de estabilización.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proyecto está diseñado para evidenciar de forma transversal las competencias del perfil de egreso: gestión de proyectos, modelos de datos, desarrollo, arquitectura y seguridad, pruebas de calidad, e innovación, además del inglés en la documentación.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Cerramos abriendo espacio para preguntas. SkateClub es un producto real, con una definición de proyecto sólida y una hoja de ruta clara para el semestre.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04120" y="-822960"/>
            <a:ext cx="2926080" cy="2926080"/>
          </a:xfrm>
          <a:prstGeom prst="ellipse">
            <a:avLst/>
          </a:prstGeom>
          <a:solidFill>
            <a:srgbClr val="2426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0881360" y="4297680"/>
            <a:ext cx="2377440" cy="2377440"/>
          </a:xfrm>
          <a:prstGeom prst="ellipse">
            <a:avLst/>
          </a:prstGeom>
          <a:solidFill>
            <a:srgbClr val="2426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514600" cy="457200"/>
          </a:xfrm>
          <a:prstGeom prst="roundRect">
            <a:avLst>
              <a:gd name="adj" fmla="val 44000"/>
            </a:avLst>
          </a:prstGeom>
          <a:solidFill>
            <a:srgbClr val="FF5A1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· PTY4614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SkateClub</a:t>
            </a:r>
            <a:endParaRPr lang="en-US" sz="7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social y colaborativa para la comunidad </a:t>
            </a:r>
            <a:r>
              <a:rPr lang="en-US" sz="2200" b="1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skater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— Definición del Proyecto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2578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iteria SYSTEMS · equipo GrindOps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E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Johan Esteban Hernández Correa  ·  Álvaro Bastián Herrera Robles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E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Informática · Duoc UC Plaza Norte · 2026-2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841248" y="2194560"/>
            <a:ext cx="640080" cy="640080"/>
          </a:xfrm>
          <a:prstGeom prst="ellipse">
            <a:avLst/>
          </a:prstGeom>
          <a:solidFill>
            <a:srgbClr val="FF5A1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841248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Spots dispersos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4747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buenos lugares para patinar se conocen solo de boca en boca; no hay información confiable de dónde están ni en qué estado.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15968" y="187452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4608576" y="2194560"/>
            <a:ext cx="640080" cy="640080"/>
          </a:xfrm>
          <a:prstGeom prst="ellipse">
            <a:avLst/>
          </a:prstGeom>
          <a:solidFill>
            <a:srgbClr val="FF5A1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4608576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08576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 desconectada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608576" y="34747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 espacio propio de la comunidad skater: la interacción ocurre en grupos genéricos de redes sociales.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83296" y="187452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8375904" y="2194560"/>
            <a:ext cx="640080" cy="640080"/>
          </a:xfrm>
          <a:prstGeom prst="ellipse">
            <a:avLst/>
          </a:prstGeom>
          <a:solidFill>
            <a:srgbClr val="FF5A1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8375904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75904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 motivación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34747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incentiva la participación constante ni reconoce a quienes aportan a la comunidad.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todo es </a:t>
            </a:r>
            <a:r>
              <a:rPr lang="en-US" sz="2000" b="1" i="1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boca a boca y anda disperso</a:t>
            </a:r>
            <a:r>
              <a:rPr lang="en-US" sz="2000" i="1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de producto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FFEADF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SkateClub </a:t>
            </a:r>
            <a:r>
              <a:rPr lang="en-US" sz="1700" dirty="0">
                <a:solidFill>
                  <a:srgbClr val="17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reúne descubrimiento, comunidad y motivación en un solo lugar pensado para la cultura skate: un mapa colaborativo de spots, una red social propia y gamificación con recompensas.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56616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804672" y="3822192"/>
            <a:ext cx="502920" cy="502920"/>
          </a:xfrm>
          <a:prstGeom prst="ellipse">
            <a:avLst/>
          </a:prstGeom>
          <a:solidFill>
            <a:srgbClr val="17181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804672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4480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colaborativo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4937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geolocalizados con calificaciones y comentarios.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46704" y="356616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3602736" y="3822192"/>
            <a:ext cx="502920" cy="502920"/>
          </a:xfrm>
          <a:prstGeom prst="ellipse">
            <a:avLst/>
          </a:prstGeom>
          <a:solidFill>
            <a:srgbClr val="17181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3602736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02736" y="4480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social propia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02736" y="4937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con fotos, likes, comentarios y mensajería.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44768" y="356616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6400800" y="3822192"/>
            <a:ext cx="502920" cy="502920"/>
          </a:xfrm>
          <a:prstGeom prst="ellipse">
            <a:avLst/>
          </a:prstGeom>
          <a:solidFill>
            <a:srgbClr val="17181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 txBox="1"/>
          <p:nvPr/>
        </p:nvSpPr>
        <p:spPr>
          <a:xfrm>
            <a:off x="640080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480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Gamificación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4937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Duelos, puntos, insignias y ranking de la comunidad.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942832" y="3566160"/>
            <a:ext cx="2606040" cy="2377440"/>
          </a:xfrm>
          <a:prstGeom prst="roundRect">
            <a:avLst>
              <a:gd name="adj" fmla="val 3462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9198864" y="3822192"/>
            <a:ext cx="502920" cy="502920"/>
          </a:xfrm>
          <a:prstGeom prst="ellipse">
            <a:avLst/>
          </a:prstGeom>
          <a:solidFill>
            <a:srgbClr val="17181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 txBox="1"/>
          <p:nvPr/>
        </p:nvSpPr>
        <p:spPr>
          <a:xfrm>
            <a:off x="9198864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198864" y="4480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Recompensas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198864" y="4937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Canje de puntos con proyección a marcas y eventos.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una idea: ya está en producción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24262D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868680" y="2423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918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3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skateclub.cl en línea y operativo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15968" y="210312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24262D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4636008" y="2423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Móvil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636008" y="32918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3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Publicada en tiendas (iOS y Android)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83296" y="2103120"/>
            <a:ext cx="3520440" cy="2834640"/>
          </a:xfrm>
          <a:prstGeom prst="roundRect">
            <a:avLst>
              <a:gd name="adj" fmla="val 2903"/>
            </a:avLst>
          </a:prstGeom>
          <a:solidFill>
            <a:srgbClr val="24262D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8403336" y="2423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403336" y="32918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3D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Interés orgánico de la escena, incl. skaters con patrocinio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E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Capstone consiste en formalizar la ingeniería de un producto que ya usan personas reales.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principales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FF5A1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214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y perfiles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login (JWT), Google y perfil de skater.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15968" y="18288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4590288" y="2103120"/>
            <a:ext cx="548640" cy="548640"/>
          </a:xfrm>
          <a:prstGeom prst="ellipse">
            <a:avLst/>
          </a:prstGeom>
          <a:solidFill>
            <a:srgbClr val="FF5A1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4590288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21214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Spots y mapa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788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Descubrir y crear spots geolocalizados (PostGIS).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83296" y="182880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8357616" y="2103120"/>
            <a:ext cx="548640" cy="548640"/>
          </a:xfrm>
          <a:prstGeom prst="ellipse">
            <a:avLst/>
          </a:prstGeom>
          <a:solidFill>
            <a:srgbClr val="FF5A1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8357616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9089136" y="21214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social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57616" y="2788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Publicaciones con foto, likes y comentarios.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rgbClr val="FF5A1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 txBox="1"/>
          <p:nvPr/>
        </p:nvSpPr>
        <p:spPr>
          <a:xfrm>
            <a:off x="82296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2702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Mensajería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937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Conversaciones directas entre usuarios.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15968" y="397764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4590288" y="4251960"/>
            <a:ext cx="548640" cy="548640"/>
          </a:xfrm>
          <a:prstGeom prst="ellipse">
            <a:avLst/>
          </a:prstGeom>
          <a:solidFill>
            <a:srgbClr val="FF5A1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 txBox="1"/>
          <p:nvPr/>
        </p:nvSpPr>
        <p:spPr>
          <a:xfrm>
            <a:off x="4590288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5321808" y="42702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Gamificación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590288" y="4937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Duelos S.K.A.T.E., minijuego, puntos e insignias.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83296" y="3977640"/>
            <a:ext cx="3520440" cy="1920240"/>
          </a:xfrm>
          <a:prstGeom prst="roundRect">
            <a:avLst>
              <a:gd name="adj" fmla="val 4286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8357616" y="4251960"/>
            <a:ext cx="548640" cy="548640"/>
          </a:xfrm>
          <a:prstGeom prst="ellipse">
            <a:avLst/>
          </a:prstGeom>
          <a:solidFill>
            <a:srgbClr val="FF5A1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 txBox="1"/>
          <p:nvPr/>
        </p:nvSpPr>
        <p:spPr>
          <a:xfrm>
            <a:off x="8357616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9089136" y="42702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Recompensas + IA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357616" y="4937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Canje de premios y asistente con Gemini.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PROPÓSITO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17181C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 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y consolidar SkateClub aplicando prácticas de ingeniería de software (arquitectura, datos, seguridad, pruebas y despliegue) que evidencien el perfil de egreso.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rgbClr val="FFEAD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339242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Formalizar requisitos y arquitectura del sistema existente.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89904" y="3429000"/>
            <a:ext cx="457200" cy="457200"/>
          </a:xfrm>
          <a:prstGeom prst="ellipse">
            <a:avLst/>
          </a:prstGeom>
          <a:solidFill>
            <a:srgbClr val="FFEAD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6089904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729984" y="339242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los módulos del MVP (auth, spots, social, gamificación).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389120"/>
            <a:ext cx="457200" cy="457200"/>
          </a:xfrm>
          <a:prstGeom prst="ellipse">
            <a:avLst/>
          </a:prstGeom>
          <a:solidFill>
            <a:srgbClr val="FFEAD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54864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35254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y documentar el modelo de datos.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89904" y="4389120"/>
            <a:ext cx="457200" cy="457200"/>
          </a:xfrm>
          <a:prstGeom prst="ellipse">
            <a:avLst/>
          </a:prstGeom>
          <a:solidFill>
            <a:srgbClr val="FFEAD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6089904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729984" y="435254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Contenerizar y desplegar con Docker en la nube.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457200" cy="457200"/>
          </a:xfrm>
          <a:prstGeom prst="ellipse">
            <a:avLst/>
          </a:prstGeom>
          <a:solidFill>
            <a:srgbClr val="FFEAD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 txBox="1"/>
          <p:nvPr/>
        </p:nvSpPr>
        <p:spPr>
          <a:xfrm>
            <a:off x="54864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531266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 (unitarias, integración, rendimiento y seguridad).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89904" y="5349240"/>
            <a:ext cx="457200" cy="457200"/>
          </a:xfrm>
          <a:prstGeom prst="ellipse">
            <a:avLst/>
          </a:prstGeom>
          <a:solidFill>
            <a:srgbClr val="FFEAD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6089904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729984" y="531266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seguridad y auditoría del propio sistema.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del MVP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868680" y="2148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Dentro del alcance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Autenticación, perfiles y spots geolocalizados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social, likes, comentarios y mensajería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Gamificación: duelos, puntos, insignias y ranking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Recompensas canjeables por puntos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Seguridad, Docker y despliegue en la nube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45352" y="187452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6565392" y="2148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2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Fuera del alcance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65392" y="269748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Pasarela de pagos real / transacciones monetarias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física de entrega de recompensas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formales de patrocinio y eventos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Moderación de contenido con IA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tecnológico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1531620" y="2331720"/>
            <a:ext cx="640080" cy="640080"/>
          </a:xfrm>
          <a:prstGeom prst="ellipse">
            <a:avLst/>
          </a:prstGeom>
          <a:solidFill>
            <a:srgbClr val="FF5A1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153162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5204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1148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· Android · Web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46704" y="201168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4329684" y="2331720"/>
            <a:ext cx="640080" cy="640080"/>
          </a:xfrm>
          <a:prstGeom prst="ellipse">
            <a:avLst/>
          </a:prstGeom>
          <a:solidFill>
            <a:srgbClr val="FF5A1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4329684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483864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83864" y="35204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483864" y="41148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JWT · REST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44768" y="201168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7127748" y="2331720"/>
            <a:ext cx="640080" cy="640080"/>
          </a:xfrm>
          <a:prstGeom prst="ellipse">
            <a:avLst/>
          </a:prstGeom>
          <a:solidFill>
            <a:srgbClr val="FF5A1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 txBox="1"/>
          <p:nvPr/>
        </p:nvSpPr>
        <p:spPr>
          <a:xfrm>
            <a:off x="7127748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281928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281928" y="35204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281928" y="41148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PostGIS (geolocalización)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942832" y="201168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9925812" y="2331720"/>
            <a:ext cx="640080" cy="640080"/>
          </a:xfrm>
          <a:prstGeom prst="ellipse">
            <a:avLst/>
          </a:prstGeom>
          <a:solidFill>
            <a:srgbClr val="FF5A1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9925812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079992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079992" y="35204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079992" y="41148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· Render · Vercel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532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Google Gemini (asistente IA) · GitHub Actions (CI/CD)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la solución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2743200" cy="1280160"/>
          </a:xfrm>
          <a:prstGeom prst="roundRect">
            <a:avLst>
              <a:gd name="adj" fmla="val 5714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F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móvil · Web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0" y="2331720"/>
            <a:ext cx="2926080" cy="1280160"/>
          </a:xfrm>
          <a:prstGeom prst="roundRect">
            <a:avLst>
              <a:gd name="adj" fmla="val 5714"/>
            </a:avLst>
          </a:prstGeom>
          <a:solidFill>
            <a:srgbClr val="17181C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4572000" y="23317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· FastAPI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D3D7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Monolito modular · JWT (Render)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91840" y="2971800"/>
            <a:ext cx="1234440" cy="0"/>
          </a:xfrm>
          <a:prstGeom prst="line">
            <a:avLst/>
          </a:prstGeom>
          <a:noFill/>
          <a:ln w="31750">
            <a:solidFill>
              <a:srgbClr val="FF5A1F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8732520" y="123444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 txBox="1"/>
          <p:nvPr/>
        </p:nvSpPr>
        <p:spPr>
          <a:xfrm>
            <a:off x="8732520" y="123444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PostGIS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F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732520" y="2487168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8732520" y="2487168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F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732520" y="374904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8732520" y="374904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· Correo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dirty="0">
                <a:solidFill>
                  <a:srgbClr val="3F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externos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589520" y="1714500"/>
            <a:ext cx="0" cy="2514600"/>
          </a:xfrm>
          <a:prstGeom prst="line">
            <a:avLst/>
          </a:prstGeom>
          <a:noFill/>
          <a:ln w="31750">
            <a:solidFill>
              <a:srgbClr val="FF5A1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7589520" y="1714500"/>
            <a:ext cx="1143000" cy="0"/>
          </a:xfrm>
          <a:prstGeom prst="line">
            <a:avLst/>
          </a:prstGeom>
          <a:noFill/>
          <a:ln w="31750">
            <a:solidFill>
              <a:srgbClr val="FF5A1F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7589520" y="2967228"/>
            <a:ext cx="1143000" cy="0"/>
          </a:xfrm>
          <a:prstGeom prst="line">
            <a:avLst/>
          </a:prstGeom>
          <a:noFill/>
          <a:ln w="31750">
            <a:solidFill>
              <a:srgbClr val="FF5A1F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7589520" y="4229100"/>
            <a:ext cx="1143000" cy="0"/>
          </a:xfrm>
          <a:prstGeom prst="line">
            <a:avLst/>
          </a:prstGeom>
          <a:noFill/>
          <a:ln w="31750">
            <a:solidFill>
              <a:srgbClr val="FF5A1F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 txBox="1"/>
          <p:nvPr/>
        </p:nvSpPr>
        <p:spPr>
          <a:xfrm>
            <a:off x="82296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 3 capas:   </a:t>
            </a:r>
            <a:r>
              <a:rPr lang="en-US" sz="140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(HTTP + validación + identidad)  →  Servicio (reglas de negocio en transacción)  →  Repositorio (SQL). Organizado por dominios.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TRABAJAMOS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Metodología: Scrum + DevOps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548640" cy="548640"/>
          </a:xfrm>
          <a:prstGeom prst="ellipse">
            <a:avLst/>
          </a:prstGeom>
          <a:solidFill>
            <a:srgbClr val="17181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3063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6118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cortos con entrega incremental de valor.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46704" y="201168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3621024" y="2286000"/>
            <a:ext cx="548640" cy="548640"/>
          </a:xfrm>
          <a:prstGeom prst="ellipse">
            <a:avLst/>
          </a:prstGeom>
          <a:solidFill>
            <a:srgbClr val="17181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3621024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02736" y="3063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en Jira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02736" y="36118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 priorizadas (MoSCoW).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44768" y="201168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6419088" y="2286000"/>
            <a:ext cx="548640" cy="548640"/>
          </a:xfrm>
          <a:prstGeom prst="ellipse">
            <a:avLst/>
          </a:prstGeom>
          <a:solidFill>
            <a:srgbClr val="17181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6419088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063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Ceremonias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6118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Planificación, revisión y retrospectiva por sprint.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942832" y="201168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9217152" y="2286000"/>
            <a:ext cx="548640" cy="548640"/>
          </a:xfrm>
          <a:prstGeom prst="ellipse">
            <a:avLst/>
          </a:prstGeom>
          <a:solidFill>
            <a:srgbClr val="17181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 txBox="1"/>
          <p:nvPr/>
        </p:nvSpPr>
        <p:spPr>
          <a:xfrm>
            <a:off x="9217152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198864" y="3063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198864" y="36118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CI/CD y Docker para despliegue continuo.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532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ya en uso  →  Scrum permite ajustar el alcance en cada sprint sin frenar el producto.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trabajo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FFEADF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1-4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rgbClr val="FF5A1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82296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00400" y="3566160"/>
            <a:ext cx="146304" cy="0"/>
          </a:xfrm>
          <a:prstGeom prst="line">
            <a:avLst/>
          </a:prstGeom>
          <a:noFill/>
          <a:ln w="25400">
            <a:solidFill>
              <a:srgbClr val="8A93A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3346704" y="219456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3621024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21024" y="28803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· Avance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621024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5-10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21024" y="4251960"/>
            <a:ext cx="548640" cy="548640"/>
          </a:xfrm>
          <a:prstGeom prst="ellipse">
            <a:avLst/>
          </a:prstGeom>
          <a:solidFill>
            <a:srgbClr val="17181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3621024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98464" y="3566160"/>
            <a:ext cx="146304" cy="0"/>
          </a:xfrm>
          <a:prstGeom prst="line">
            <a:avLst/>
          </a:prstGeom>
          <a:noFill/>
          <a:ln w="25400">
            <a:solidFill>
              <a:srgbClr val="8A93A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6144768" y="219456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FFEADF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 txBox="1"/>
          <p:nvPr/>
        </p:nvSpPr>
        <p:spPr>
          <a:xfrm>
            <a:off x="6419088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19088" y="28803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· Final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419088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11-15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19088" y="4251960"/>
            <a:ext cx="548640" cy="548640"/>
          </a:xfrm>
          <a:prstGeom prst="ellipse">
            <a:avLst/>
          </a:prstGeom>
          <a:solidFill>
            <a:srgbClr val="17181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 txBox="1"/>
          <p:nvPr/>
        </p:nvSpPr>
        <p:spPr>
          <a:xfrm>
            <a:off x="6419088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796528" y="3566160"/>
            <a:ext cx="146304" cy="0"/>
          </a:xfrm>
          <a:prstGeom prst="line">
            <a:avLst/>
          </a:prstGeom>
          <a:noFill/>
          <a:ln w="25400">
            <a:solidFill>
              <a:srgbClr val="8A93A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8942832" y="219456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 txBox="1"/>
          <p:nvPr/>
        </p:nvSpPr>
        <p:spPr>
          <a:xfrm>
            <a:off x="9217152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217152" y="28803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9217152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16-18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217152" y="4251960"/>
            <a:ext cx="548640" cy="548640"/>
          </a:xfrm>
          <a:prstGeom prst="ellipse">
            <a:avLst/>
          </a:prstGeom>
          <a:solidFill>
            <a:srgbClr val="FF5A1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 txBox="1"/>
          <p:nvPr/>
        </p:nvSpPr>
        <p:spPr>
          <a:xfrm>
            <a:off x="9217152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semanas · marco Scrum · 4 sprints de desarrollo + estabilización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DE EGRESO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competencias evidencia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804672" y="2148840"/>
            <a:ext cx="594360" cy="594360"/>
          </a:xfrm>
          <a:prstGeom prst="ellipse">
            <a:avLst/>
          </a:prstGeom>
          <a:solidFill>
            <a:srgbClr val="FF5A1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804672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0391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proyectos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44144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Scrum, Jira, cronograma y control de avance.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9904" y="187452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345936" y="2148840"/>
            <a:ext cx="594360" cy="594360"/>
          </a:xfrm>
          <a:prstGeom prst="ellipse">
            <a:avLst/>
          </a:prstGeom>
          <a:solidFill>
            <a:srgbClr val="FF5A1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6345936" y="2148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141464" y="20391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de datos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7141464" y="244144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relacional PostgreSQL escalable y documentado.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804672" y="3474720"/>
            <a:ext cx="594360" cy="594360"/>
          </a:xfrm>
          <a:prstGeom prst="ellipse">
            <a:avLst/>
          </a:prstGeom>
          <a:solidFill>
            <a:srgbClr val="FF5A1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804672" y="3474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3649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de software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76732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multiplataforma + backend de servicios.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89904" y="320040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6345936" y="3474720"/>
            <a:ext cx="594360" cy="594360"/>
          </a:xfrm>
          <a:prstGeom prst="ellipse">
            <a:avLst/>
          </a:prstGeom>
          <a:solidFill>
            <a:srgbClr val="FF5A1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 txBox="1"/>
          <p:nvPr/>
        </p:nvSpPr>
        <p:spPr>
          <a:xfrm>
            <a:off x="6345936" y="3474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41464" y="33649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y seguridad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7141464" y="376732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arquitectónico y plan de seguridad/auditoría.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804672" y="4800600"/>
            <a:ext cx="594360" cy="594360"/>
          </a:xfrm>
          <a:prstGeom prst="ellipse">
            <a:avLst/>
          </a:prstGeom>
          <a:solidFill>
            <a:srgbClr val="FF5A1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 txBox="1"/>
          <p:nvPr/>
        </p:nvSpPr>
        <p:spPr>
          <a:xfrm>
            <a:off x="804672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46908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de calidad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509320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Unitarias, integración, rendimiento y seguridad.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089904" y="452628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9AA0AA">
                <a:alpha val="2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6345936" y="4800600"/>
            <a:ext cx="594360" cy="594360"/>
          </a:xfrm>
          <a:prstGeom prst="ellipse">
            <a:avLst/>
          </a:prstGeom>
          <a:solidFill>
            <a:srgbClr val="FF5A1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 txBox="1"/>
          <p:nvPr/>
        </p:nvSpPr>
        <p:spPr>
          <a:xfrm>
            <a:off x="6345936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141464" y="469087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18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Innovación e inglés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7141464" y="509320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Gamificación + geolocalización · documentación EN.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846320"/>
            <a:ext cx="2743200" cy="2743200"/>
          </a:xfrm>
          <a:prstGeom prst="ellipse">
            <a:avLst/>
          </a:prstGeom>
          <a:solidFill>
            <a:srgbClr val="2426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0607040" y="-914400"/>
            <a:ext cx="2926080" cy="2926080"/>
          </a:xfrm>
          <a:prstGeom prst="ellipse">
            <a:avLst/>
          </a:prstGeom>
          <a:solidFill>
            <a:srgbClr val="2426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¡Gracias!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SkateClub</a:t>
            </a:r>
            <a:r>
              <a:rPr lang="en-US" sz="2400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skateclub.cl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06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E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iteria SYSTEMS · GrindOps  —  Johan Hernández  ·  Álvaro Herrera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09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(PTY4614) · Ingeniería en Informática · Duoc UC Plaza Norte · 2026-2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1386</Words>
  <Application>Microsoft Office PowerPoint</Application>
  <PresentationFormat>Panorámica</PresentationFormat>
  <Paragraphs>207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SkateClub — Definición del Proyecto (Fase 1)</dc:title>
  <dc:subject>PptxGenJS Presentation</dc:subject>
  <dc:creator>VERTEX SYSTEMS · GrindOps</dc:creator>
  <cp:lastModifiedBy>Johan Hernández</cp:lastModifiedBy>
  <cp:revision>2</cp:revision>
  <dcterms:created xsi:type="dcterms:W3CDTF">2026-08-30T05:42:24Z</dcterms:created>
  <dcterms:modified xsi:type="dcterms:W3CDTF">2026-09-21T16:04:37Z</dcterms:modified>
</cp:coreProperties>
</file>